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2B377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097280"/>
            <a:ext cx="5486400" cy="54864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KLARO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0632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Offline Assistant for Reading Tender Documents (RFPs)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794760"/>
            <a:ext cx="2743200" cy="0"/>
          </a:xfrm>
          <a:prstGeom prst="line">
            <a:avLst/>
          </a:prstGeom>
          <a:noFill/>
          <a:ln w="19050">
            <a:solidFill>
              <a:srgbClr val="4550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Part-1  ·  B.Tech CSE  ·  Jaypee Institute of Information Technology, Noida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892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Yasharth Singh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9923103059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4892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Nikunj Sethi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9923103069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4892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 Sircar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9923103072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Shikha Mehta, HOD-CSE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an RFP by hand is slow and error-prone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for Proposal (RFP) is a document a company publishes when it wants bidders. Before a team can bid, someone has to read the whole thing and find the points that matter.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074920" cy="3063240"/>
          </a:xfrm>
          <a:prstGeom prst="roundRect">
            <a:avLst>
              <a:gd name="adj" fmla="val 358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7889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50–100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94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 a typical RFP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24528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Deadlines, payment terms, eligibility and penalty clauses are scattered across many sections.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2514600"/>
            <a:ext cx="5074920" cy="3063240"/>
          </a:xfrm>
          <a:prstGeom prst="roundRect">
            <a:avLst>
              <a:gd name="adj" fmla="val 358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27889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794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RFPs you can safely upload to a public chatbot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4224528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Tenders are confidential. Sending one to an online AI service is usually against company policy.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Klaro — Project Overview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Klaro reads the RFP for you — on your own laptop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Klaro is a desktop app. It reads a tender PDF and writes a short, organised summary — using a small AI model that runs entirely on the user's machine. Nothing is uploaded, ever.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3F6FD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4164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runs locally via Ollama. The document never leaves your laptop.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24688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3F6F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788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661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Focused Model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04164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 (4B) — light enough for an ordinary laptop, chosen after testing three models.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24688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3F6FD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788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5661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Nine-Heading Summary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404164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eligibility, dates, money, duration and conditions — every point links to its page.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Klaro — Project Overview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raw PDF to a checked summary, in six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157984" y="1828800"/>
            <a:ext cx="9015984" cy="2697480"/>
          </a:xfrm>
          <a:prstGeom prst="roundRect">
            <a:avLst>
              <a:gd name="adj" fmla="val 4068"/>
            </a:avLst>
          </a:prstGeom>
          <a:ln w="15875">
            <a:solidFill>
              <a:srgbClr val="9FB0E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2157984" y="1892808"/>
            <a:ext cx="9015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RUNS ON YOUR OWN LAPTOP — NOTHING IS UPLOADED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02920" y="245973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89864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PDF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57400" y="3118104"/>
            <a:ext cx="256032" cy="164592"/>
          </a:xfrm>
          <a:prstGeom prst="rightArrow">
            <a:avLst/>
          </a:prstGeom>
          <a:solidFill>
            <a:srgbClr val="AFC0EC"/>
          </a:solidFill>
          <a:ln/>
        </p:spPr>
      </p:sp>
      <p:sp>
        <p:nvSpPr>
          <p:cNvPr id="10" name="Shape 8"/>
          <p:cNvSpPr/>
          <p:nvPr/>
        </p:nvSpPr>
        <p:spPr>
          <a:xfrm>
            <a:off x="2295144" y="2331720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295144" y="245973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386584" y="289864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parts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9624" y="3118104"/>
            <a:ext cx="256032" cy="164592"/>
          </a:xfrm>
          <a:prstGeom prst="rightArrow">
            <a:avLst/>
          </a:prstGeom>
          <a:solidFill>
            <a:srgbClr val="AFC0EC"/>
          </a:solidFill>
          <a:ln/>
        </p:spPr>
      </p:sp>
      <p:sp>
        <p:nvSpPr>
          <p:cNvPr id="14" name="Shape 12"/>
          <p:cNvSpPr/>
          <p:nvPr/>
        </p:nvSpPr>
        <p:spPr>
          <a:xfrm>
            <a:off x="4087368" y="2331720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087368" y="245973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78808" y="289864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reads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twice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41848" y="3118104"/>
            <a:ext cx="256032" cy="164592"/>
          </a:xfrm>
          <a:prstGeom prst="rightArrow">
            <a:avLst/>
          </a:prstGeom>
          <a:solidFill>
            <a:srgbClr val="AFC0EC"/>
          </a:solidFill>
          <a:ln/>
        </p:spPr>
      </p:sp>
      <p:sp>
        <p:nvSpPr>
          <p:cNvPr id="18" name="Shape 16"/>
          <p:cNvSpPr/>
          <p:nvPr/>
        </p:nvSpPr>
        <p:spPr>
          <a:xfrm>
            <a:off x="5879592" y="2331720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879592" y="245973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71032" y="289864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&amp;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facts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34072" y="3118104"/>
            <a:ext cx="256032" cy="164592"/>
          </a:xfrm>
          <a:prstGeom prst="rightArrow">
            <a:avLst/>
          </a:prstGeom>
          <a:solidFill>
            <a:srgbClr val="AFC0EC"/>
          </a:solidFill>
          <a:ln/>
        </p:spPr>
      </p:sp>
      <p:sp>
        <p:nvSpPr>
          <p:cNvPr id="22" name="Shape 20"/>
          <p:cNvSpPr/>
          <p:nvPr/>
        </p:nvSpPr>
        <p:spPr>
          <a:xfrm>
            <a:off x="7671816" y="2331720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671816" y="245973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63256" y="289864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9-heading summary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26296" y="3118104"/>
            <a:ext cx="256032" cy="164592"/>
          </a:xfrm>
          <a:prstGeom prst="rightArrow">
            <a:avLst/>
          </a:prstGeom>
          <a:solidFill>
            <a:srgbClr val="AFC0EC"/>
          </a:solidFill>
          <a:ln/>
        </p:spPr>
      </p:sp>
      <p:sp>
        <p:nvSpPr>
          <p:cNvPr id="26" name="Shape 24"/>
          <p:cNvSpPr/>
          <p:nvPr/>
        </p:nvSpPr>
        <p:spPr>
          <a:xfrm>
            <a:off x="9464040" y="2331720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464040" y="245973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555480" y="289864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shown to you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709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&amp; 5 use the AI model</a:t>
            </a:r>
            <a:pPr indent="0" marL="0">
              <a:buNone/>
            </a:pPr>
            <a:r>
              <a:rPr lang="en-US" sz="12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(dark boxes) — everything else is plain, deterministic code.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in the final summary carries the page number it came from — clicking it opens the original PDF at that page.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Klaro — Pipeline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tested three small AI models before picking one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listed requirements from the same 20 RFP parts, checked against 47 hand-marked answers.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3F6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(e4b)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786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8.0B params · 9.6 GB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000" dirty="0"/>
          </a:p>
          <a:p>
            <a:pPr indent="0" marL="0">
              <a:buNone/>
            </a:pPr>
            <a:r>
              <a:rPr lang="en-US" sz="1050" dirty="0">
                <a:solidFill>
                  <a:srgbClr val="5B6488"/>
                </a:solidFill>
              </a:rPr>
              <a:t>precision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9718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000" dirty="0"/>
          </a:p>
          <a:p>
            <a:pPr indent="0" marL="0">
              <a:buNone/>
            </a:pPr>
            <a:r>
              <a:rPr lang="en-US" sz="1050" dirty="0">
                <a:solidFill>
                  <a:srgbClr val="5B6488"/>
                </a:solidFill>
              </a:rPr>
              <a:t>recall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23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most, but nearly 3× the download size.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96596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19456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441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21945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 (4B)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9900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4.7B params · 3.4 GB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3832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00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precision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3832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00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recall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434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wrong claims and the smallest download — chosen.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196596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3F6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0" y="2194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Phi-4-mini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5786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3.8B params · 2.5 GB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9718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3000" dirty="0"/>
          </a:p>
          <a:p>
            <a:pPr indent="0" marL="0">
              <a:buNone/>
            </a:pPr>
            <a:r>
              <a:rPr lang="en-US" sz="1050" dirty="0">
                <a:solidFill>
                  <a:srgbClr val="5B6488"/>
                </a:solidFill>
              </a:rPr>
              <a:t>precision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9738360" y="29718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000" dirty="0"/>
          </a:p>
          <a:p>
            <a:pPr indent="0" marL="0">
              <a:buNone/>
            </a:pPr>
            <a:r>
              <a:rPr lang="en-US" sz="1050" dirty="0">
                <a:solidFill>
                  <a:srgbClr val="5B6488"/>
                </a:solidFill>
              </a:rPr>
              <a:t>recall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023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but missed most requirements and invented one.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Klaro — Model Selection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end to end on real government and bank RFPs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full runs on an ordinary laptop: an 84-page government RFP, and a 54-page bank RFP run twice.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3F6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22–25 min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 a 54–84 page RFP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21488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3F6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02152" y="2331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backed by facts &amp; page numbers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9904" y="21488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3F6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72784" y="2331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72784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Made-up (hallucinated) facts, in any run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0536" y="21488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3F6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43416" y="2331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043416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completed with no failed parts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also learned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754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long RFPs, the last step currently copies the collected facts instead of truly shortening them. Every point still carries a correct page number — this is the first fix planned for the next phase.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Klaro — Experimental Results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DESKTOP APP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screen to watch, and a summary you can trust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C7D2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pic>
        <p:nvPicPr>
          <p:cNvPr id="5" name="Image 0" descr="/Users/yasharthsingh/Coding/major/klaro/report/figures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709928"/>
            <a:ext cx="5038344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5440680"/>
            <a:ext cx="5038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— add an RFP or reopen a past run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55080" y="160020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C7D2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pic>
        <p:nvPicPr>
          <p:cNvPr id="8" name="Image 1" descr="/Users/yasharthsingh/Coding/major/klaro/report/figures/progre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64808" y="1709928"/>
            <a:ext cx="5038344" cy="3657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64808" y="5440680"/>
            <a:ext cx="5038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screen — live status while the AI reads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Klaro — Desktop App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LIMITS, AND WHAT'S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know what's missing — here's the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251960"/>
          </a:xfrm>
          <a:prstGeom prst="roundRect">
            <a:avLst>
              <a:gd name="adj" fmla="val 2151"/>
            </a:avLst>
          </a:prstGeom>
          <a:solidFill>
            <a:srgbClr val="F3F6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2200"/>
              </a:spcAft>
              <a:buSzPct val="100000"/>
              <a:buChar char="–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handful of RFPs tested so far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2200"/>
              </a:spcAft>
              <a:buSzPct val="100000"/>
              <a:buChar char="–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RFPs aren't shortened yet, only copied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2200"/>
              </a:spcAft>
              <a:buSzPct val="100000"/>
              <a:buChar char="–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text-based PDFs only — no scans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2200"/>
              </a:spcAft>
              <a:buSzPct val="100000"/>
              <a:buChar char="–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 give slightly different answers on different runs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623560" cy="4251960"/>
          </a:xfrm>
          <a:prstGeom prst="roundRect">
            <a:avLst>
              <a:gd name="adj" fmla="val 215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31343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212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long-summary copying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420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read more at once and write one heading at a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322783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3127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support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4564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German RFPs and reply in German or English — first added language.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414223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4041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model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3708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real RFPs, human-checked golden summaries, LoRA fine-tuning.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505663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49560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Assistant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285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summary into a first draft proposal, with a requirements checklist.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Klaro — Roadmap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2B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194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Klaro — the private, offline RFP reading assistant?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886200"/>
            <a:ext cx="2743200" cy="0"/>
          </a:xfrm>
          <a:prstGeom prst="line">
            <a:avLst/>
          </a:prstGeom>
          <a:noFill/>
          <a:ln w="19050">
            <a:solidFill>
              <a:srgbClr val="4550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Yasharth Singh (9923103059)  ·  Nikunj Sethi (9923103069)  ·  Shrey Sircar (9923103072)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480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Shikha Mehta, HOD-CSE  ·  Jaypee Institute of Information Technology, Noida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2026-09-27T17:51:59Z</dcterms:created>
  <dcterms:modified xsi:type="dcterms:W3CDTF">2026-09-27T17:51:59Z</dcterms:modified>
</cp:coreProperties>
</file>